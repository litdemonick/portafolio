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73" r:id="rId10"/>
    <p:sldId id="267" r:id="rId11"/>
    <p:sldId id="268" r:id="rId12"/>
    <p:sldId id="269" r:id="rId13"/>
    <p:sldId id="270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22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7830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193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87569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4116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66899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9538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56198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81328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2115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23481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41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114449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0616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90074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806245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91855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EDFA448-7681-49F1-97F2-85DA5C633748}" type="datetimeFigureOut">
              <a:rPr lang="es-PA" smtClean="0"/>
              <a:t>10/15/2025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48AD1C-B7CC-47FC-83FC-9D063E1F4FC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929012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4044" y="186813"/>
            <a:ext cx="7343911" cy="6858000"/>
          </a:xfrm>
        </p:spPr>
        <p:txBody>
          <a:bodyPr>
            <a:norm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Tecnológica de Panamá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Centro Regional de Chiriquí 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Facultad: Sistemas Computacionales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Carrera: Lic. Desarrollo y gestión de software</a:t>
            </a:r>
            <a:endParaRPr lang="es-PA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A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Facilitador(a): Napoleón Ibarra</a:t>
            </a:r>
            <a:endParaRPr lang="es-E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Participantes: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Harold Morales 4-831-1350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Carlos Miranda 4-829-535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Materia: Desarrollo de software IV</a:t>
            </a:r>
            <a:endParaRPr lang="es-ES" sz="2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logo of a university&#10;&#10;AI-generated content may be incorrect.">
            <a:extLst>
              <a:ext uri="{FF2B5EF4-FFF2-40B4-BE49-F238E27FC236}">
                <a16:creationId xmlns:a16="http://schemas.microsoft.com/office/drawing/2014/main" id="{441DB557-A45B-304E-346F-BD537FCB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44688" cy="19446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E42924-19F5-C4F5-AD86-BFEAE434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312" y="3497"/>
            <a:ext cx="1944688" cy="194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6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8FA8B47-8E12-25F2-A4F6-8F569A0BB3D4}"/>
              </a:ext>
            </a:extLst>
          </p:cNvPr>
          <p:cNvSpPr txBox="1"/>
          <p:nvPr/>
        </p:nvSpPr>
        <p:spPr>
          <a:xfrm>
            <a:off x="332508" y="1478431"/>
            <a:ext cx="116482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La replicación de bases de datos es una técnica esencial para garantizar la disponibilidad y sincronización de la información entre servidores. Este trabajo tiene como objetivo implementar y demostrar la replicación en MySQL/</a:t>
            </a:r>
            <a:r>
              <a:rPr lang="es-MX" sz="2800" dirty="0" err="1">
                <a:solidFill>
                  <a:schemeClr val="bg1"/>
                </a:solidFill>
              </a:rPr>
              <a:t>MariaDB</a:t>
            </a:r>
            <a:r>
              <a:rPr lang="es-MX" sz="2800" dirty="0">
                <a:solidFill>
                  <a:schemeClr val="bg1"/>
                </a:solidFill>
              </a:rPr>
              <a:t> mediante PHP y XAMPP, configurando un servidor maestro en Windows y uno esclavo en Ubuntu. Además, se desarrolla una aplicación web en PHP para gestionar usuarios y comprobar en tiempo real cómo los cambios se reflejan entre ambos servidores, uniendo la teoría con la práctica para mejorar la confiabilidad y el rendimiento de los sistemas de información.</a:t>
            </a:r>
            <a:endParaRPr lang="es-PA" sz="28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4F0BBD-EDBB-5FC3-4BDB-7DE6129983EE}"/>
              </a:ext>
            </a:extLst>
          </p:cNvPr>
          <p:cNvSpPr txBox="1"/>
          <p:nvPr/>
        </p:nvSpPr>
        <p:spPr>
          <a:xfrm>
            <a:off x="4397086" y="447775"/>
            <a:ext cx="37182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4400" dirty="0">
                <a:solidFill>
                  <a:schemeClr val="bg1"/>
                </a:solidFill>
              </a:rPr>
              <a:t>Introducción</a:t>
            </a:r>
            <a:r>
              <a:rPr lang="es-PA" sz="4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73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5A1FF-B5DA-A3B1-F0AA-8760160F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24D9F5B-C72B-41EE-97C2-D3600B627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6C3785-985E-1D8E-3970-E5AE63946C86}"/>
              </a:ext>
            </a:extLst>
          </p:cNvPr>
          <p:cNvSpPr txBox="1"/>
          <p:nvPr/>
        </p:nvSpPr>
        <p:spPr>
          <a:xfrm>
            <a:off x="1184564" y="289787"/>
            <a:ext cx="4859313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Ebrima" panose="02000000000000000000" pitchFamily="2" charset="0"/>
                <a:cs typeface="Times New Roman" panose="02020603050405020304" pitchFamily="18" charset="0"/>
              </a:rPr>
              <a:t>Conceptos</a:t>
            </a: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Ebrima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Ebrima" panose="02000000000000000000" pitchFamily="2" charset="0"/>
                <a:cs typeface="Times New Roman" panose="02020603050405020304" pitchFamily="18" charset="0"/>
              </a:rPr>
              <a:t>Fundamentales</a:t>
            </a: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Ebrima" panose="02000000000000000000" pitchFamily="2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25D43C-FF5A-872F-3C92-BB8C95C7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2" t="19697" r="9879" b="21082"/>
          <a:stretch>
            <a:fillRect/>
          </a:stretch>
        </p:blipFill>
        <p:spPr>
          <a:xfrm>
            <a:off x="7818571" y="850409"/>
            <a:ext cx="3968749" cy="2326709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677BD8B-1017-9AEE-DA94-77278776D6B9}"/>
              </a:ext>
            </a:extLst>
          </p:cNvPr>
          <p:cNvSpPr txBox="1"/>
          <p:nvPr/>
        </p:nvSpPr>
        <p:spPr>
          <a:xfrm>
            <a:off x="155865" y="1480896"/>
            <a:ext cx="7258026" cy="5240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y MariaDB son Sistemas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Gestores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Bases de Datos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Relacionales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(SGBD)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almacenar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manipular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estructurada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mediante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SQL.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basado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relacionadas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grandes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volúmenes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MariaDB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nació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libre y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totalmente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compatible con MySQL,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creada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sus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desarrolladores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adquisición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Oracle.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Aunque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comparten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instrucciones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MariaDB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rendimiento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seguridad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escalabilidad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siendo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preferida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requieren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estabilidad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alto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desempeño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80A64C-1862-4B1B-8953-FA96DEE4C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2859A51-B3CA-4126-956F-D0DCCBA21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CA05ED-FBC3-48F4-8E6D-AB89EC608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EE24CC5-F080-45A3-B2B4-59A7BCA5A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EC6EC2-2351-427C-90C2-F10791573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24D87A-9540-4F77-B006-82317662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Qué es MySQL? :: Consultora tecnológica y de desarrollo">
            <a:extLst>
              <a:ext uri="{FF2B5EF4-FFF2-40B4-BE49-F238E27FC236}">
                <a16:creationId xmlns:a16="http://schemas.microsoft.com/office/drawing/2014/main" id="{CA3CECD1-A8E9-FF3D-1B36-481EAD056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571" y="3553691"/>
            <a:ext cx="3968749" cy="251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970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06D2F-680D-8528-AB5C-4E5FF9CB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2057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124D9F5B-C72B-41EE-97C2-D3600B627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CA51FE-FB7E-05DB-AD00-14181C171825}"/>
              </a:ext>
            </a:extLst>
          </p:cNvPr>
          <p:cNvSpPr txBox="1"/>
          <p:nvPr/>
        </p:nvSpPr>
        <p:spPr>
          <a:xfrm>
            <a:off x="6081143" y="113891"/>
            <a:ext cx="4783118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Conceptos</a:t>
            </a: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Fundamentales</a:t>
            </a: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0" name="Picture 2" descr="PHP - Wikipedia, la enciclopedia libre">
            <a:extLst>
              <a:ext uri="{FF2B5EF4-FFF2-40B4-BE49-F238E27FC236}">
                <a16:creationId xmlns:a16="http://schemas.microsoft.com/office/drawing/2014/main" id="{D9E8D92B-7F97-A358-2EF9-7C31A1C23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524" y="2042041"/>
            <a:ext cx="4602594" cy="2639231"/>
          </a:xfrm>
          <a:prstGeom prst="rect">
            <a:avLst/>
          </a:prstGeom>
          <a:noFill/>
          <a:effectLst>
            <a:innerShdw blurRad="57150" dist="38100" dir="14460000">
              <a:prstClr val="black">
                <a:alpha val="7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138FF27-0130-DCC9-0B03-6D787F33DC89}"/>
              </a:ext>
            </a:extLst>
          </p:cNvPr>
          <p:cNvSpPr txBox="1"/>
          <p:nvPr/>
        </p:nvSpPr>
        <p:spPr>
          <a:xfrm>
            <a:off x="5044929" y="1558638"/>
            <a:ext cx="6855547" cy="4810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 y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MySQL/MariaDB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 (Hypertext Preprocessor) es un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programación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lado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servidor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aplicaciones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dinámicas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interactuar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bases de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MySQL o MariaDB. Gracias 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integradas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mysqli_connect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o a la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PDO, PHP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ejecutar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consultas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 para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modificar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información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interfaz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convirtiéndose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clave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0180A64C-1862-4B1B-8953-FA96DEE4C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52859A51-B3CA-4126-956F-D0DCCBA21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1ECA05ED-FBC3-48F4-8E6D-AB89EC608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5EE24CC5-F080-45A3-B2B4-59A7BCA5A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B3EC6EC2-2351-427C-90C2-F10791573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D524D87A-9540-4F77-B006-82317662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0981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D6C8C-2391-444D-7AD1-B4098CE5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9657E0-6A35-DECF-3B34-EA96C33FA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50B74C-4BFD-CB62-5E48-571665271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D4CCCB-52F1-5E45-18DF-D4DF29B4C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0E7122-D966-D246-6900-52AFB1FC2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1C2C32-585A-22B2-F708-750E98E70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AD8790-C1A8-4035-7D77-5C9088B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B2BA4F-A4AB-3448-2A4A-739346410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771463-EE45-97F8-9280-514D1FBBFF03}"/>
              </a:ext>
            </a:extLst>
          </p:cNvPr>
          <p:cNvSpPr txBox="1"/>
          <p:nvPr/>
        </p:nvSpPr>
        <p:spPr>
          <a:xfrm>
            <a:off x="1838874" y="289787"/>
            <a:ext cx="4205003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Conceptos</a:t>
            </a:r>
            <a:r>
              <a:rPr lang="en-US" sz="3200" cap="all" dirty="0">
                <a:ln w="3175" cmpd="sng">
                  <a:noFill/>
                </a:ln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3200" cap="all" dirty="0" err="1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Fundamentales</a:t>
            </a:r>
            <a:r>
              <a:rPr lang="en-US" sz="3200" cap="all" dirty="0">
                <a:ln w="3175" cmpd="sng">
                  <a:noFill/>
                </a:ln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48D523-D55A-B601-3944-170907D8EFCA}"/>
              </a:ext>
            </a:extLst>
          </p:cNvPr>
          <p:cNvSpPr txBox="1"/>
          <p:nvPr/>
        </p:nvSpPr>
        <p:spPr>
          <a:xfrm>
            <a:off x="312362" y="1424321"/>
            <a:ext cx="7258026" cy="4955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 de XAMPP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XAMPP actúa como un entorno de desarrollo local que reúne todos los componentes necesarios para ejecutar sistemas basados en PHP y MySQL/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MariaDB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Su nombre proviene de la combinación de tecnologías: X (multiplataforma), A (Apache, servidor web), M (MySQL/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MariaDB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base de datos), P (PHP) y P (Perl). Gracias a XAMPP, los desarrolladores pueden crear, probar y depurar sus aplicaciones en un entorno controlado antes de implementarlas en un servidor real, simplificando la instalación y configuración de los servicios requeridos.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B3A56D-58E7-6F91-938F-AC3067103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BB000A1-3E5D-C74B-9CB3-ED6878DCC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BA4298-C81E-F795-FFFE-43657CD3E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E9B103-EAE3-7808-F026-E9A48FA64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A8730AF-72C3-710F-60C1-CC3BEC291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28C2928-7A26-3FC0-E07B-C18A1496E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 descr="XAMPP: Una Solución Integral para Desarrolladores – DRAFT Design Web © ·  Diseño Web &amp; Software">
            <a:extLst>
              <a:ext uri="{FF2B5EF4-FFF2-40B4-BE49-F238E27FC236}">
                <a16:creationId xmlns:a16="http://schemas.microsoft.com/office/drawing/2014/main" id="{101D5339-D001-F02E-5552-FFFBFF80B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288" y="1442938"/>
            <a:ext cx="3922713" cy="39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34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663AB-4D7E-926C-F593-CEBC8892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D59AFD9-E70B-9A4D-1482-35DD404EB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24883D-7C8C-D0BD-597B-805DBABDB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CE6E763-7129-B221-DA1F-EEF29D369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F84B97A-30E2-D05C-8D67-4E81AEAB8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E518F4-4994-1634-B66E-BD62F8064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201E9BD-BEFA-EBE0-A90B-5DE07B310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4385A-9D9B-62A1-93F7-C65666549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BD5770-70E1-7AB6-6895-2C71507D45D0}"/>
              </a:ext>
            </a:extLst>
          </p:cNvPr>
          <p:cNvSpPr txBox="1"/>
          <p:nvPr/>
        </p:nvSpPr>
        <p:spPr>
          <a:xfrm>
            <a:off x="1838874" y="289787"/>
            <a:ext cx="4205003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3200" cap="all" dirty="0">
              <a:ln w="3175" cmpd="sng">
                <a:noFill/>
              </a:ln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C86731-13C6-143A-A217-B84777BD5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AFEB97-9412-448A-49ED-CF0A3FD2C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E90B52A-77CE-3D2B-5665-C732FABB3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58D068-42C6-6E4E-8988-EA99D862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1D84A1-21C9-B01C-843D-4999F9870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811989-3A12-64E6-DFDC-C4DAC6784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0F06D12E-FF9D-EF33-6F3F-08A224C68B81}"/>
              </a:ext>
            </a:extLst>
          </p:cNvPr>
          <p:cNvSpPr txBox="1"/>
          <p:nvPr/>
        </p:nvSpPr>
        <p:spPr>
          <a:xfrm>
            <a:off x="312362" y="419773"/>
            <a:ext cx="49558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Requerimientos del Proyecto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BA04023-3F27-FE86-CCFD-3AB7B5CB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20814"/>
              </p:ext>
            </p:extLst>
          </p:nvPr>
        </p:nvGraphicFramePr>
        <p:xfrm>
          <a:off x="312362" y="1134534"/>
          <a:ext cx="11430460" cy="5271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301">
                  <a:extLst>
                    <a:ext uri="{9D8B030D-6E8A-4147-A177-3AD203B41FA5}">
                      <a16:colId xmlns:a16="http://schemas.microsoft.com/office/drawing/2014/main" val="4009259179"/>
                    </a:ext>
                  </a:extLst>
                </a:gridCol>
                <a:gridCol w="7299159">
                  <a:extLst>
                    <a:ext uri="{9D8B030D-6E8A-4147-A177-3AD203B41FA5}">
                      <a16:colId xmlns:a16="http://schemas.microsoft.com/office/drawing/2014/main" val="3963258440"/>
                    </a:ext>
                  </a:extLst>
                </a:gridCol>
              </a:tblGrid>
              <a:tr h="475145">
                <a:tc>
                  <a:txBody>
                    <a:bodyPr/>
                    <a:lstStyle/>
                    <a:p>
                      <a:r>
                        <a:rPr lang="es-PA" sz="2400" dirty="0"/>
                        <a:t>Requisito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718840"/>
                  </a:ext>
                </a:extLst>
              </a:tr>
              <a:tr h="705845">
                <a:tc>
                  <a:txBody>
                    <a:bodyPr/>
                    <a:lstStyle/>
                    <a:p>
                      <a:r>
                        <a:rPr lang="es-PA" sz="2400" dirty="0"/>
                        <a:t>Software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/>
                        <a:t>XAMPP (Apache, PHP, </a:t>
                      </a:r>
                      <a:r>
                        <a:rPr lang="es-PA" sz="2400" dirty="0" err="1"/>
                        <a:t>MariaDB</a:t>
                      </a:r>
                      <a:r>
                        <a:rPr lang="es-PA" sz="2400" dirty="0"/>
                        <a:t>) en Windows y 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60801"/>
                  </a:ext>
                </a:extLst>
              </a:tr>
              <a:tr h="475145">
                <a:tc>
                  <a:txBody>
                    <a:bodyPr/>
                    <a:lstStyle/>
                    <a:p>
                      <a:r>
                        <a:rPr lang="es-PA" sz="2400" dirty="0"/>
                        <a:t>Herramienta de gestión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/>
                        <a:t>MySQL </a:t>
                      </a:r>
                      <a:r>
                        <a:rPr lang="es-PA" sz="2400" dirty="0" err="1"/>
                        <a:t>Workbench</a:t>
                      </a:r>
                      <a:endParaRPr lang="es-P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318508"/>
                  </a:ext>
                </a:extLst>
              </a:tr>
              <a:tr h="475145">
                <a:tc>
                  <a:txBody>
                    <a:bodyPr/>
                    <a:lstStyle/>
                    <a:p>
                      <a:r>
                        <a:rPr lang="es-PA" sz="2400" dirty="0"/>
                        <a:t>Lenguaje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/>
                        <a:t>PHP 8.x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06180"/>
                  </a:ext>
                </a:extLst>
              </a:tr>
              <a:tr h="705845">
                <a:tc>
                  <a:txBody>
                    <a:bodyPr/>
                    <a:lstStyle/>
                    <a:p>
                      <a:r>
                        <a:rPr lang="es-PA" sz="2400" dirty="0"/>
                        <a:t>Base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 err="1"/>
                        <a:t>MariaDB</a:t>
                      </a:r>
                      <a:r>
                        <a:rPr lang="es-PA" sz="2400" dirty="0"/>
                        <a:t> 10.4 (compatible con MySQL)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00312"/>
                  </a:ext>
                </a:extLst>
              </a:tr>
              <a:tr h="475145">
                <a:tc>
                  <a:txBody>
                    <a:bodyPr/>
                    <a:lstStyle/>
                    <a:p>
                      <a:r>
                        <a:rPr lang="es-PA" sz="2400" dirty="0"/>
                        <a:t>Sistema operativa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A" sz="2400" dirty="0"/>
                        <a:t>Windows 10 y Ubuntu 22.04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19331"/>
                  </a:ext>
                </a:extLst>
              </a:tr>
              <a:tr h="1019553">
                <a:tc>
                  <a:txBody>
                    <a:bodyPr/>
                    <a:lstStyle/>
                    <a:p>
                      <a:r>
                        <a:rPr lang="es-PA" sz="2400" dirty="0"/>
                        <a:t>Configuración de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Adaptador en modo puente (para conexión directa entre ambos sistemas)</a:t>
                      </a:r>
                      <a:endParaRPr lang="es-P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740784"/>
                  </a:ext>
                </a:extLst>
              </a:tr>
              <a:tr h="705845">
                <a:tc>
                  <a:txBody>
                    <a:bodyPr/>
                    <a:lstStyle/>
                    <a:p>
                      <a:r>
                        <a:rPr lang="es-PA" sz="2400" dirty="0"/>
                        <a:t>Puertos utilizados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3307 (Windows Maestro) y 3306 (Ubuntu Esclavo)</a:t>
                      </a:r>
                      <a:endParaRPr lang="es-P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7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381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5EAC9-38C7-7B42-2A21-EABEFDA8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E550F57-0FB8-D05D-F3B5-07BF836F4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27750FC-B930-3D4C-79D4-B6894D54D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BADDC3-010E-F90D-B0C7-359AB243C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8729EF-2E6C-7737-AE28-5462E0E5E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B0AC6D-4D07-B444-7DA2-45A2EA91E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C7E2C26-C9D7-10AB-B915-DC3E90623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0A0630C-85F1-8104-2351-171B3576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2535B3-E5E5-0669-D487-9B619430D5A1}"/>
              </a:ext>
            </a:extLst>
          </p:cNvPr>
          <p:cNvSpPr txBox="1"/>
          <p:nvPr/>
        </p:nvSpPr>
        <p:spPr>
          <a:xfrm>
            <a:off x="609600" y="289787"/>
            <a:ext cx="5434277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Configuración Técnica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7C6D4A-0CA4-81C0-BF07-7FCF746D47BB}"/>
              </a:ext>
            </a:extLst>
          </p:cNvPr>
          <p:cNvSpPr txBox="1"/>
          <p:nvPr/>
        </p:nvSpPr>
        <p:spPr>
          <a:xfrm>
            <a:off x="312362" y="1424321"/>
            <a:ext cx="5835763" cy="4955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Archivos y Entornos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Archivo de configuración en Windows (maestro):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Ruta: C:\xampp\mysql\bin\my.ini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mysqld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=3307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server-id=1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log-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mysql-bin</a:t>
            </a: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binlog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-do-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=investigacion3_db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bind-address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=0.0.0.0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1495BD-3D5A-4E51-7EAB-F2D3FD00D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6B61FE3-AA3E-1498-B3A9-AFB0A92E0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360BBB-3B4E-9FA2-C09A-8EB07D77D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C8E81E6-F7E2-C86B-DACA-B5E9BCE4D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937CB42-2A2E-4B48-3CEF-31859185D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A688602-E63A-EB82-20F3-E9C97CE04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BDF3264B-FBEE-CF37-0332-A49D6044247B}"/>
              </a:ext>
            </a:extLst>
          </p:cNvPr>
          <p:cNvSpPr txBox="1"/>
          <p:nvPr/>
        </p:nvSpPr>
        <p:spPr>
          <a:xfrm>
            <a:off x="5896656" y="1398296"/>
            <a:ext cx="5835763" cy="4955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Archivo de configuración en Ubuntu (esclavo):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Ruta: 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lampp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my.cnf</a:t>
            </a: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mysqld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=3306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server-id=2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replicate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-do-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=investigacion3_db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endParaRPr lang="es-MX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532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45348-547D-AFCF-0345-C9F44E7E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DAA2A8-73EF-863F-E3C3-3113F46A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086B95D-4692-782A-95DA-A47F761FF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0C2C3C6-3F4F-DF82-947B-4830CD93D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C398B-5A3F-A57A-6F79-BD7144BDC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82F657-B40A-E1C3-1AB0-16575D730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0844D6-898D-A498-C7C3-73B2A4BAE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095EACF-B4D5-BF5C-DEE7-29619E839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1633CB-F92C-4880-E10E-66EBC44170E7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4D2B73-4DD9-0840-6759-6A87DA33D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480044C-2166-5B5C-9008-8BDF48A8B3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B335335-322E-B2DF-C5A3-9437B33CF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37735DF-4C5D-AE18-4E54-952AF1898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68931FA-FFF8-F2E8-A331-23E4465D7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67B10C-FA43-2BDE-190A-3A271FAE4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93F0387B-BA26-68F5-D43B-9302C097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054" y="1310797"/>
            <a:ext cx="9643599" cy="513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58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B8AB8-A389-767A-1511-B0F44605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B77E4F-9373-B9E6-10C5-D8D404E5F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B615E9-ADE1-1B77-07AE-CEE524E0D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9B03F6A-80CE-52ED-E093-4CF3136F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3419EB-951B-5A78-7FA7-3E3E729FA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CACCA23-303E-7C56-221A-E2675C96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19EEF3-5502-B88E-805B-3757455EA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A161C-D490-1A30-00A3-9E42B67D5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A1AF82-93C0-50F0-56A5-E6BA7F91F07B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6D2EC3-7A08-E473-3C39-8980EAF79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43C25A-2562-107E-1B9F-7BB42FEA2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80BA9-2099-3D6A-3EB7-7B2E2858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7A6D61-D3FB-A2C3-4DCE-0A83265CA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6989F36-64ED-8FD9-BD05-1F59C5065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1FAD6C-3878-BFE4-1C01-1585C4F06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E808BCB-7F5A-D404-D5B5-F72E4264B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10" y="1303567"/>
            <a:ext cx="10178980" cy="514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58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830AD-3B3C-ADB3-6513-B1011B34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5DD9EC-E180-11AC-2BA8-7F91F2ED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83E7F17-D978-3A2F-A308-76BFD3799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EF9B2C-3DA8-2029-EB32-BD4C9CC82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164569-78FC-F814-45A8-17485567D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C08D21-7E93-DF82-DBB9-992CAD250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1BE00B-F314-2305-CB1F-868922994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A2327FC-BB61-85CF-9E37-6670A9E50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F46148-69F9-A71E-98A7-0D349B444A2A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DD6901-04A1-33FE-5CBB-E3FD3F9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B949ED-FE05-9F47-76A3-913D5FEF4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693B29-F4E4-42B4-BAE0-ABB9ABDA4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C324DA5-5CDF-5A3E-A901-384E50FE4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3C0810-28D5-7408-44F7-CB749A676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10178B5-FF1B-94EE-8E12-3061A1796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6989E4BF-3400-5B51-5880-BFD27BFBE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88" y="1225689"/>
            <a:ext cx="10027024" cy="53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84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FDE80-593D-9EE8-3453-9279A80B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7869EE-22B0-62C6-4CF9-2184FB64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CADD7A3-490B-DCB5-2F17-B8A17A080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75BB196-0C20-C59B-B2B4-E47A2D3B2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622447-3D9C-42B5-1892-F6650F622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74ECE32-B4C5-9E4B-CEB9-0D252FC39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D324C7-4EA5-497D-0960-CABC1D60E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A44E58F-0099-414A-C935-3DE2B508B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6F1D5E-0334-30F2-F947-EC975EFC9726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32B835-3153-CEEC-0283-1B2B1CC0A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D26D5C0-FB62-8381-6EC7-0FB0F641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1A39522-FA08-66F1-5B84-AB4D5B388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5C79C6A-C9BE-11B1-DA45-40660EB3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AC5F707-8699-E5B6-3CFD-0BCF0C6A1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E44F6A-9971-5FE2-467B-4B131FC84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A198A3EF-9446-C11C-C092-46713593D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14" y="1344914"/>
            <a:ext cx="9543372" cy="506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91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3DDB0-22A6-8EC8-BE57-B9A274C5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C1B8D8-F459-F442-D418-A9615BC6E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CF98D94-E1E9-5F86-3357-95CEB1B0F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521BAB0-F1A1-F7EC-4A8D-BE49C1115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57A6BC-95E7-C442-B993-0BCFC55C0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C7D7DF-103A-693D-BE58-DDEC8093E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75D631E-3ABB-18F0-1BEC-8D2859848A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68CEAAC-ADDA-3A4C-508F-47954AF98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14CE73-466F-919C-64F7-4795EA5CC328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A94B60-195C-7B6E-9CBF-81EE0E088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4D8EC1A-657B-95E9-E654-1AA424D04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1499091-E5DF-E7D9-E70B-BCAB11352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89F1FFB-1D99-0A74-1119-5DBFBADB5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8AD735-353A-4B2A-9B85-A15DE2E35F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2947BB-7096-4E7D-672C-3B0DA29E6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FF9B3C3A-A701-464E-460B-78176066F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854" y="1181705"/>
            <a:ext cx="10143772" cy="53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92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1C11A-64E2-0456-5B20-72D8C9EE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2B02562-3D41-DD24-264C-3C245ACA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95CF94-6ACD-963D-81C5-6FA4F1971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20FD8D0-3FE8-94CD-2CC3-52C70030C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7A01416-A0B2-DFFB-AB0D-F95E26314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EAA529-0676-06CD-767B-6C4402983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4B8666-EDF3-7CC7-60F1-D1046F8F0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F61DD-B37B-3096-2FCF-F01B39460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27BFB0-8ED1-2F5C-A96A-DA16C73A6B27}"/>
              </a:ext>
            </a:extLst>
          </p:cNvPr>
          <p:cNvSpPr txBox="1"/>
          <p:nvPr/>
        </p:nvSpPr>
        <p:spPr>
          <a:xfrm>
            <a:off x="609600" y="289787"/>
            <a:ext cx="6204155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Demostración Práctica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72C4CF-F3D7-D9D8-F911-469798F34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6C69E56-2A16-2474-8874-3AE97239B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8B43344-1EE2-3189-4E17-8BFB98C69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9DA4845-4B9D-D28C-EDE0-A6D1B9C2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3BD55B1-E7F3-859F-BF30-1AA1E5F36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ACFF7BA-B684-3B6C-E7FD-AC81AB807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11009A6-C2A4-4746-0EBC-1044056C5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02" y="1307639"/>
            <a:ext cx="9627195" cy="513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5207B-4EB3-95A4-4D99-0D56A617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C3695AB-4B30-010E-4232-B93788229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7669D0-25AE-225C-608D-6225363A0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7B7EF7-1095-D47D-293A-DB5F02854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0DA117E-5F3B-1DE9-5FF6-D4C7432F2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4115122-B633-65C9-1BA2-2019315E3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7756EB-22F5-B814-C292-B522C889B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EE75E-2053-BDE0-D41E-6149ED66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A3CBAE-E7E9-6862-0273-A701EAC23FE2}"/>
              </a:ext>
            </a:extLst>
          </p:cNvPr>
          <p:cNvSpPr txBox="1"/>
          <p:nvPr/>
        </p:nvSpPr>
        <p:spPr>
          <a:xfrm>
            <a:off x="4188943" y="310571"/>
            <a:ext cx="3136090" cy="113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A0678C-FF71-78B1-7FBD-9E166CE12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C125FD-16DC-2017-1A3E-51E862B94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F7DB0A3-63D3-C50B-C1F6-1AEC9D925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0539AA1-1173-B0CE-8222-676252FE3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2F818A1-8FAF-2A9F-CD96-59B73D973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C1837DB-1CA2-0733-C091-C004806EC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B83E158E-6F9C-2FF5-FCAE-3F5A8D93ED13}"/>
              </a:ext>
            </a:extLst>
          </p:cNvPr>
          <p:cNvSpPr txBox="1"/>
          <p:nvPr/>
        </p:nvSpPr>
        <p:spPr>
          <a:xfrm>
            <a:off x="360592" y="1445105"/>
            <a:ext cx="112218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implementación de la replicación entre servidores MySQL/</a:t>
            </a:r>
            <a:r>
              <a:rPr lang="es-MX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MariaDB</a:t>
            </a:r>
            <a:r>
              <a:rPr lang="es-MX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permitió demostrar de manera práctica cómo se pueden sincronizar bases de datos en tiempo real entre diferentes sistemas operativos. A través de la configuración del entorno maestro en Windows y esclavo en Ubuntu, se logró establecer una conexión estable que garantiza la actualización automática de los datos insertados, modificados o eliminados.</a:t>
            </a:r>
          </a:p>
          <a:p>
            <a:r>
              <a:rPr lang="es-MX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proceso evidenció la importancia de comprender los parámetros de configuración en los archivos “my.ini” y “</a:t>
            </a:r>
            <a:r>
              <a:rPr lang="es-MX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my.cnf</a:t>
            </a:r>
            <a:r>
              <a:rPr lang="es-MX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el uso correcto de puertos, credenciales y variables de replicación. Asimismo, el desarrollo del sistema en PHP con XAMPP permitió comprobar la efectividad de la replicación mediante una interfaz web funcional, capaz de realizar operaciones CRUD y reflejar los cambios en ambos servidores sin intervención manual.</a:t>
            </a:r>
            <a:endParaRPr lang="es-PA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92A33464B15643ADF8E4B2425A9729" ma:contentTypeVersion="11" ma:contentTypeDescription="Crear nuevo documento." ma:contentTypeScope="" ma:versionID="5ab10a4f1097a08d1e92b081d24ae42e">
  <xsd:schema xmlns:xsd="http://www.w3.org/2001/XMLSchema" xmlns:xs="http://www.w3.org/2001/XMLSchema" xmlns:p="http://schemas.microsoft.com/office/2006/metadata/properties" xmlns:ns2="313e8f8a-72dc-4d0c-89b4-9d3d7a5e74be" xmlns:ns3="61b5cb08-2a9b-4bed-83af-28d83e334296" targetNamespace="http://schemas.microsoft.com/office/2006/metadata/properties" ma:root="true" ma:fieldsID="1d0899a46f7892cdb8a6f2aab9fc2b45" ns2:_="" ns3:_="">
    <xsd:import namespace="313e8f8a-72dc-4d0c-89b4-9d3d7a5e74be"/>
    <xsd:import namespace="61b5cb08-2a9b-4bed-83af-28d83e33429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e8f8a-72dc-4d0c-89b4-9d3d7a5e74b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5cb08-2a9b-4bed-83af-28d83e33429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91c8c91-7fc5-4bcf-ba4e-2326737ad905}" ma:internalName="TaxCatchAll" ma:showField="CatchAllData" ma:web="61b5cb08-2a9b-4bed-83af-28d83e334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3e8f8a-72dc-4d0c-89b4-9d3d7a5e74be">
      <Terms xmlns="http://schemas.microsoft.com/office/infopath/2007/PartnerControls"/>
    </lcf76f155ced4ddcb4097134ff3c332f>
    <ReferenceId xmlns="313e8f8a-72dc-4d0c-89b4-9d3d7a5e74be" xsi:nil="true"/>
    <TaxCatchAll xmlns="61b5cb08-2a9b-4bed-83af-28d83e334296" xsi:nil="true"/>
  </documentManagement>
</p:properties>
</file>

<file path=customXml/itemProps1.xml><?xml version="1.0" encoding="utf-8"?>
<ds:datastoreItem xmlns:ds="http://schemas.openxmlformats.org/officeDocument/2006/customXml" ds:itemID="{349625A2-3003-41C5-8FA1-44AA9948E6DD}"/>
</file>

<file path=customXml/itemProps2.xml><?xml version="1.0" encoding="utf-8"?>
<ds:datastoreItem xmlns:ds="http://schemas.openxmlformats.org/officeDocument/2006/customXml" ds:itemID="{7FDA82C5-E180-44B5-9578-13D2EBC49EF5}"/>
</file>

<file path=customXml/itemProps3.xml><?xml version="1.0" encoding="utf-8"?>
<ds:datastoreItem xmlns:ds="http://schemas.openxmlformats.org/officeDocument/2006/customXml" ds:itemID="{3CC708C3-679E-4D01-A55C-627A0D3334F4}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200</TotalTime>
  <Words>752</Words>
  <Application>Microsoft Office PowerPoint</Application>
  <PresentationFormat>Panorámica</PresentationFormat>
  <Paragraphs>61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Harold Morales</dc:creator>
  <cp:lastModifiedBy>Harold Morales</cp:lastModifiedBy>
  <cp:revision>5</cp:revision>
  <dcterms:created xsi:type="dcterms:W3CDTF">2025-10-15T21:10:01Z</dcterms:created>
  <dcterms:modified xsi:type="dcterms:W3CDTF">2025-10-16T03:05:24Z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0x0101008292A33464B15643ADF8E4B2425A9729</vt:lpwstr>
  </property>
</Properties>
</file>