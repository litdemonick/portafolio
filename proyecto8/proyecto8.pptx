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2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1.xml"/><Relationship Id="rId16" Type="http://schemas.openxmlformats.org/officeDocument/2006/relationships/font" Target="fonts/font16.fntdata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font" Target="fonts/font15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3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6680" y="407559"/>
            <a:ext cx="13534640" cy="938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UNIVERSIDAD TECNOLÓGICA DE PANAMÁ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CENTRO REGIONAL DE CHIRIQUÍ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FACULTAD DE INGENIERÍA DE SISTEMAS COMPUTACIONALES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CARRERA: Licenciatura en Desarrollo y Gestión de Software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Profesor: Ibarra Napoleon</a:t>
            </a:r>
          </a:p>
          <a:p>
            <a:pPr algn="ctr">
              <a:lnSpc>
                <a:spcPts val="3966"/>
              </a:lnSpc>
            </a:pP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ASIGNATURA:DSW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Asignación: Taller 3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ESTUDIANTES: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 Miranda 4-829-535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Brayan Quintero 4-829-1666</a:t>
            </a:r>
          </a:p>
          <a:p>
            <a:pPr algn="ctr">
              <a:lnSpc>
                <a:spcPts val="3966"/>
              </a:lnSpc>
            </a:pP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II SEMESTRE 2025</a:t>
            </a:r>
          </a:p>
          <a:p>
            <a:pPr algn="ctr">
              <a:lnSpc>
                <a:spcPts val="396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354762" cy="3249208"/>
          </a:xfrm>
          <a:custGeom>
            <a:avLst/>
            <a:gdLst/>
            <a:ahLst/>
            <a:cxnLst/>
            <a:rect r="r" b="b" t="t" l="l"/>
            <a:pathLst>
              <a:path h="3249208" w="3354762">
                <a:moveTo>
                  <a:pt x="0" y="0"/>
                </a:moveTo>
                <a:lnTo>
                  <a:pt x="3354762" y="0"/>
                </a:lnTo>
                <a:lnTo>
                  <a:pt x="3354762" y="3249208"/>
                </a:lnTo>
                <a:lnTo>
                  <a:pt x="0" y="3249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2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38792" y="0"/>
            <a:ext cx="3249208" cy="3249208"/>
          </a:xfrm>
          <a:custGeom>
            <a:avLst/>
            <a:gdLst/>
            <a:ahLst/>
            <a:cxnLst/>
            <a:rect r="r" b="b" t="t" l="l"/>
            <a:pathLst>
              <a:path h="3249208" w="3249208">
                <a:moveTo>
                  <a:pt x="0" y="0"/>
                </a:moveTo>
                <a:lnTo>
                  <a:pt x="3249208" y="0"/>
                </a:lnTo>
                <a:lnTo>
                  <a:pt x="3249208" y="3249208"/>
                </a:lnTo>
                <a:lnTo>
                  <a:pt x="0" y="3249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" t="-145" r="-72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22587" y="3058445"/>
            <a:ext cx="6471031" cy="1501710"/>
            <a:chOff x="0" y="0"/>
            <a:chExt cx="2071333" cy="4806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1333" cy="480687"/>
            </a:xfrm>
            <a:custGeom>
              <a:avLst/>
              <a:gdLst/>
              <a:ahLst/>
              <a:cxnLst/>
              <a:rect r="r" b="b" t="t" l="l"/>
              <a:pathLst>
                <a:path h="480687" w="2071333">
                  <a:moveTo>
                    <a:pt x="29910" y="0"/>
                  </a:moveTo>
                  <a:lnTo>
                    <a:pt x="2041423" y="0"/>
                  </a:lnTo>
                  <a:cubicBezTo>
                    <a:pt x="2057942" y="0"/>
                    <a:pt x="2071333" y="13391"/>
                    <a:pt x="2071333" y="29910"/>
                  </a:cubicBezTo>
                  <a:lnTo>
                    <a:pt x="2071333" y="450777"/>
                  </a:lnTo>
                  <a:cubicBezTo>
                    <a:pt x="2071333" y="458710"/>
                    <a:pt x="2068182" y="466318"/>
                    <a:pt x="2062573" y="471927"/>
                  </a:cubicBezTo>
                  <a:cubicBezTo>
                    <a:pt x="2056963" y="477536"/>
                    <a:pt x="2049356" y="480687"/>
                    <a:pt x="2041423" y="480687"/>
                  </a:cubicBezTo>
                  <a:lnTo>
                    <a:pt x="29910" y="480687"/>
                  </a:lnTo>
                  <a:cubicBezTo>
                    <a:pt x="21977" y="480687"/>
                    <a:pt x="14370" y="477536"/>
                    <a:pt x="8760" y="471927"/>
                  </a:cubicBezTo>
                  <a:cubicBezTo>
                    <a:pt x="3151" y="466318"/>
                    <a:pt x="0" y="458710"/>
                    <a:pt x="0" y="450777"/>
                  </a:cubicBezTo>
                  <a:lnTo>
                    <a:pt x="0" y="29910"/>
                  </a:lnTo>
                  <a:cubicBezTo>
                    <a:pt x="0" y="21977"/>
                    <a:pt x="3151" y="14370"/>
                    <a:pt x="8760" y="8760"/>
                  </a:cubicBezTo>
                  <a:cubicBezTo>
                    <a:pt x="14370" y="3151"/>
                    <a:pt x="21977" y="0"/>
                    <a:pt x="29910" y="0"/>
                  </a:cubicBezTo>
                  <a:close/>
                </a:path>
              </a:pathLst>
            </a:custGeom>
            <a:solidFill>
              <a:srgbClr val="FFFCD2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1333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058445"/>
            <a:ext cx="1501710" cy="150171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8FB1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88269" y="3031493"/>
            <a:ext cx="6471031" cy="1501710"/>
            <a:chOff x="0" y="0"/>
            <a:chExt cx="2071333" cy="4806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1333" cy="480687"/>
            </a:xfrm>
            <a:custGeom>
              <a:avLst/>
              <a:gdLst/>
              <a:ahLst/>
              <a:cxnLst/>
              <a:rect r="r" b="b" t="t" l="l"/>
              <a:pathLst>
                <a:path h="480687" w="2071333">
                  <a:moveTo>
                    <a:pt x="29910" y="0"/>
                  </a:moveTo>
                  <a:lnTo>
                    <a:pt x="2041423" y="0"/>
                  </a:lnTo>
                  <a:cubicBezTo>
                    <a:pt x="2057942" y="0"/>
                    <a:pt x="2071333" y="13391"/>
                    <a:pt x="2071333" y="29910"/>
                  </a:cubicBezTo>
                  <a:lnTo>
                    <a:pt x="2071333" y="450777"/>
                  </a:lnTo>
                  <a:cubicBezTo>
                    <a:pt x="2071333" y="458710"/>
                    <a:pt x="2068182" y="466318"/>
                    <a:pt x="2062573" y="471927"/>
                  </a:cubicBezTo>
                  <a:cubicBezTo>
                    <a:pt x="2056963" y="477536"/>
                    <a:pt x="2049356" y="480687"/>
                    <a:pt x="2041423" y="480687"/>
                  </a:cubicBezTo>
                  <a:lnTo>
                    <a:pt x="29910" y="480687"/>
                  </a:lnTo>
                  <a:cubicBezTo>
                    <a:pt x="21977" y="480687"/>
                    <a:pt x="14370" y="477536"/>
                    <a:pt x="8760" y="471927"/>
                  </a:cubicBezTo>
                  <a:cubicBezTo>
                    <a:pt x="3151" y="466318"/>
                    <a:pt x="0" y="458710"/>
                    <a:pt x="0" y="450777"/>
                  </a:cubicBezTo>
                  <a:lnTo>
                    <a:pt x="0" y="29910"/>
                  </a:lnTo>
                  <a:cubicBezTo>
                    <a:pt x="0" y="21977"/>
                    <a:pt x="3151" y="14370"/>
                    <a:pt x="8760" y="8760"/>
                  </a:cubicBezTo>
                  <a:cubicBezTo>
                    <a:pt x="14370" y="3151"/>
                    <a:pt x="21977" y="0"/>
                    <a:pt x="29910" y="0"/>
                  </a:cubicBezTo>
                  <a:close/>
                </a:path>
              </a:pathLst>
            </a:custGeom>
            <a:solidFill>
              <a:srgbClr val="FFFCD2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71333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769" y="3110514"/>
            <a:ext cx="1397572" cy="13975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46451" y="3085397"/>
            <a:ext cx="1501710" cy="15017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8FB1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8520" y="3137466"/>
            <a:ext cx="1397572" cy="139757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0" y="22225"/>
            <a:ext cx="8793618" cy="152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1"/>
              </a:lnSpc>
              <a:spcBef>
                <a:spcPct val="0"/>
              </a:spcBef>
            </a:pPr>
            <a:r>
              <a:rPr lang="en-US" sz="84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Participantes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54610" y="3319577"/>
            <a:ext cx="520698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 Miranda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20292" y="3228272"/>
            <a:ext cx="520698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Brayan Quintero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56142" y="145297"/>
            <a:ext cx="4975716" cy="88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8"/>
              </a:lnSpc>
              <a:spcBef>
                <a:spcPct val="0"/>
              </a:spcBef>
            </a:pPr>
            <a:r>
              <a:rPr lang="en-US" b="true" sz="4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05678"/>
            <a:ext cx="16230600" cy="577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8"/>
              </a:lnSpc>
              <a:spcBef>
                <a:spcPct val="0"/>
              </a:spcBef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 taller propone el desarrollo de una solución integral para Chinos Café, que abarque la creación y gestión de un Sistema de Información web con MySQL y su entorno de servidores, como base para la operación del negocio. La solución incluye un POS con procesos clave —ventas, proveedores, inventario y facturación— sustentado en un diseño ER y la adecuada configuración de la plataforma. Además, se debe enlazar ambas sucursales mediante una red LAN apoyada en VLAN, y fortificar el servidor web con un firewall capaz de mitigar ataques como DDoS, integrando así desarrollo de software y seguridad de redes en un mismo proyecto.</a:t>
            </a:r>
          </a:p>
          <a:p>
            <a:pPr algn="l">
              <a:lnSpc>
                <a:spcPts val="45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238" y="1399866"/>
            <a:ext cx="15985669" cy="180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688" indent="-274844" lvl="1">
              <a:lnSpc>
                <a:spcPts val="356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Recomendación: Arquitectura cliente-servidor con un servidor de base de datos relacional (MySQL o MariaDB) como SGBD principal y un servidor de arch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ivos 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(NAS 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Samba) adicional para almacenar backups, archivos estáticos (PDF de facturas, imágenes de productos) y copias.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238" y="-114300"/>
            <a:ext cx="14805547" cy="143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arquitectura SGBD, aparte de servidor de archivo recomendaría?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905783" y="-6355129"/>
            <a:ext cx="12348316" cy="9676590"/>
          </a:xfrm>
          <a:custGeom>
            <a:avLst/>
            <a:gdLst/>
            <a:ahLst/>
            <a:cxnLst/>
            <a:rect r="r" b="b" t="t" l="l"/>
            <a:pathLst>
              <a:path h="9676590" w="12348316">
                <a:moveTo>
                  <a:pt x="0" y="0"/>
                </a:moveTo>
                <a:lnTo>
                  <a:pt x="12348317" y="0"/>
                </a:lnTo>
                <a:lnTo>
                  <a:pt x="12348317" y="9676589"/>
                </a:lnTo>
                <a:lnTo>
                  <a:pt x="0" y="9676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2238" y="3247426"/>
            <a:ext cx="2714859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639" y="4056142"/>
            <a:ext cx="15985669" cy="1354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688" indent="-274844" lvl="1">
              <a:lnSpc>
                <a:spcPts val="356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arquitectura cliente-servidor permite múltiples clientes (web, POS, administrac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ión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accediendo concurrentemente a la DB con control de concurrencia, seguridad y transacciones ACID.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8639" y="5334498"/>
            <a:ext cx="15985669" cy="4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688" indent="-274844" lvl="1">
              <a:lnSpc>
                <a:spcPts val="356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Separar roles (DB / Web / Files) fac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ilita seguridad,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backups y escalabilidad.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2238" y="7589419"/>
            <a:ext cx="15985669" cy="269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</a:p>
          <a:p>
            <a:pPr algn="l" marL="549688" indent="-274844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 SGBD multihilo permite manejar múltiples conexiones concurrentes (ventas simultáneas, consultas inventario, generación de factura), mejor utilización de CPU y reducción de latenc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ia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baj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carga concurrente. En un POS con varios terminales y acceso web, la concurrencia es necesaria para consistencia y rendimiento.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72238" y="5911632"/>
            <a:ext cx="7402773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¿Necesita ser multihilo? Sí.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238" y="7065544"/>
            <a:ext cx="2714859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7343" y="783769"/>
            <a:ext cx="6752798" cy="9258300"/>
          </a:xfrm>
          <a:custGeom>
            <a:avLst/>
            <a:gdLst/>
            <a:ahLst/>
            <a:cxnLst/>
            <a:rect r="r" b="b" t="t" l="l"/>
            <a:pathLst>
              <a:path h="9258300" w="6752798">
                <a:moveTo>
                  <a:pt x="0" y="0"/>
                </a:moveTo>
                <a:lnTo>
                  <a:pt x="6752798" y="0"/>
                </a:lnTo>
                <a:lnTo>
                  <a:pt x="675279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238" y="-114300"/>
            <a:ext cx="14623009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de base de datos: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238" y="1193402"/>
            <a:ext cx="17035463" cy="7900196"/>
          </a:xfrm>
          <a:custGeom>
            <a:avLst/>
            <a:gdLst/>
            <a:ahLst/>
            <a:cxnLst/>
            <a:rect r="r" b="b" t="t" l="l"/>
            <a:pathLst>
              <a:path h="7900196" w="17035463">
                <a:moveTo>
                  <a:pt x="0" y="0"/>
                </a:moveTo>
                <a:lnTo>
                  <a:pt x="17035463" y="0"/>
                </a:lnTo>
                <a:lnTo>
                  <a:pt x="17035463" y="7900196"/>
                </a:lnTo>
                <a:lnTo>
                  <a:pt x="0" y="790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238" y="-190500"/>
            <a:ext cx="6807482" cy="116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8"/>
              </a:lnSpc>
              <a:spcBef>
                <a:spcPct val="0"/>
              </a:spcBef>
            </a:pPr>
            <a:r>
              <a:rPr lang="en-US" sz="64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UFW de fire wall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503" y="2386915"/>
            <a:ext cx="17212994" cy="8305270"/>
          </a:xfrm>
          <a:custGeom>
            <a:avLst/>
            <a:gdLst/>
            <a:ahLst/>
            <a:cxnLst/>
            <a:rect r="r" b="b" t="t" l="l"/>
            <a:pathLst>
              <a:path h="8305270" w="17212994">
                <a:moveTo>
                  <a:pt x="0" y="0"/>
                </a:moveTo>
                <a:lnTo>
                  <a:pt x="17212994" y="0"/>
                </a:lnTo>
                <a:lnTo>
                  <a:pt x="17212994" y="8305269"/>
                </a:lnTo>
                <a:lnTo>
                  <a:pt x="0" y="8305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238" y="-190500"/>
            <a:ext cx="17715762" cy="231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8"/>
              </a:lnSpc>
              <a:spcBef>
                <a:spcPct val="0"/>
              </a:spcBef>
            </a:pPr>
            <a:r>
              <a:rPr lang="en-US" sz="64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Fail2ban: es un servicio de prevención de intrusiones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4369" y="3254741"/>
            <a:ext cx="11719263" cy="225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17"/>
              </a:lnSpc>
              <a:spcBef>
                <a:spcPct val="0"/>
              </a:spcBef>
            </a:pPr>
            <a:r>
              <a:rPr lang="en-US" sz="1258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Demostración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31890">
            <a:off x="2483184" y="-1079850"/>
            <a:ext cx="13529021" cy="12446700"/>
          </a:xfrm>
          <a:custGeom>
            <a:avLst/>
            <a:gdLst/>
            <a:ahLst/>
            <a:cxnLst/>
            <a:rect r="r" b="b" t="t" l="l"/>
            <a:pathLst>
              <a:path h="12446700" w="13529021">
                <a:moveTo>
                  <a:pt x="0" y="0"/>
                </a:moveTo>
                <a:lnTo>
                  <a:pt x="13529021" y="0"/>
                </a:lnTo>
                <a:lnTo>
                  <a:pt x="13529021" y="12446700"/>
                </a:lnTo>
                <a:lnTo>
                  <a:pt x="0" y="1244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13284" y="3441933"/>
            <a:ext cx="8668821" cy="323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Muchas gracias por la atención</a:t>
            </a:r>
          </a:p>
          <a:p>
            <a:pPr algn="ctr">
              <a:lnSpc>
                <a:spcPts val="8540"/>
              </a:lnSpc>
              <a:spcBef>
                <a:spcPct val="0"/>
              </a:spcBef>
            </a:pPr>
            <a:r>
              <a:rPr lang="en-US" b="true" sz="6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👍&lt;3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292A33464B15643ADF8E4B2425A9729" ma:contentTypeVersion="11" ma:contentTypeDescription="Crear nuevo documento." ma:contentTypeScope="" ma:versionID="4b06e9455ac7dae39ba57d455a713db9">
  <xsd:schema xmlns:xsd="http://www.w3.org/2001/XMLSchema" xmlns:xs="http://www.w3.org/2001/XMLSchema" xmlns:p="http://schemas.microsoft.com/office/2006/metadata/properties" xmlns:ns2="313e8f8a-72dc-4d0c-89b4-9d3d7a5e74be" xmlns:ns3="61b5cb08-2a9b-4bed-83af-28d83e334296" targetNamespace="http://schemas.microsoft.com/office/2006/metadata/properties" ma:root="true" ma:fieldsID="d981b8228c2891043440ab5625fa2001" ns2:_="" ns3:_="">
    <xsd:import namespace="313e8f8a-72dc-4d0c-89b4-9d3d7a5e74be"/>
    <xsd:import namespace="61b5cb08-2a9b-4bed-83af-28d83e33429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e8f8a-72dc-4d0c-89b4-9d3d7a5e74b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5cb08-2a9b-4bed-83af-28d83e33429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91c8c91-7fc5-4bcf-ba4e-2326737ad905}" ma:internalName="TaxCatchAll" ma:showField="CatchAllData" ma:web="61b5cb08-2a9b-4bed-83af-28d83e334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3e8f8a-72dc-4d0c-89b4-9d3d7a5e74be">
      <Terms xmlns="http://schemas.microsoft.com/office/infopath/2007/PartnerControls"/>
    </lcf76f155ced4ddcb4097134ff3c332f>
    <ReferenceId xmlns="313e8f8a-72dc-4d0c-89b4-9d3d7a5e74be" xsi:nil="true"/>
    <TaxCatchAll xmlns="61b5cb08-2a9b-4bed-83af-28d83e334296" xsi:nil="true"/>
  </documentManagement>
</p:properties>
</file>

<file path=customXml/itemProps1.xml><?xml version="1.0" encoding="utf-8"?>
<ds:datastoreItem xmlns:ds="http://schemas.openxmlformats.org/officeDocument/2006/customXml" ds:itemID="{80C4DE3F-2EAD-493B-B6CE-A44CF71553CC}"/>
</file>

<file path=customXml/itemProps2.xml><?xml version="1.0" encoding="utf-8"?>
<ds:datastoreItem xmlns:ds="http://schemas.openxmlformats.org/officeDocument/2006/customXml" ds:itemID="{4B079CF9-9635-4B56-8408-AF6AD96380F5}"/>
</file>

<file path=customXml/itemProps3.xml><?xml version="1.0" encoding="utf-8"?>
<ds:datastoreItem xmlns:ds="http://schemas.openxmlformats.org/officeDocument/2006/customXml" ds:itemID="{D07F1BE7-BBE3-4A99-BA5B-CF0A9B627F7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Creativa Proyecto Ideas Ilustrado Divertido Sencillo Colorido</dc:title>
  <cp:revision>1</cp:revision>
  <dcterms:created xsi:type="dcterms:W3CDTF">2006-08-16T00:00:00Z</dcterms:created>
  <dcterms:modified xsi:type="dcterms:W3CDTF">2011-08-01T06:04:30Z</dcterms:modified>
  <dc:identifier>DAG1a-js6qE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0x0101008292A33464B15643ADF8E4B2425A9729</vt:lpwstr>
  </property>
</Properties>
</file>